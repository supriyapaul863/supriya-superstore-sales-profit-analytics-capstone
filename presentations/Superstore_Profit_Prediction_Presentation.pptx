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34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8368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 Profit Prediction &amp; Discount Optimization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</a:rPr>
              <a:t>Superstore Sales Dataset | Regression modelling, SQL findings, EDA and prototype simulator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3675888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" y="3785616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</a:rPr>
              <a:t>9,994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" y="41148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order lines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880360" y="3675888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90088" y="3785616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$2.30M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90088" y="41148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total sales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5074920" y="3675888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84648" y="3785616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994A"/>
                </a:solidFill>
              </a:rPr>
              <a:t>$286.4K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84648" y="41148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total profit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7269480" y="3675888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79208" y="3785616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B5757"/>
                </a:solidFill>
              </a:rPr>
              <a:t>18.7%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79208" y="41148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loss-making lines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685800" y="4892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</a:rPr>
              <a:t>Core finding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" y="5248656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Discounts beyond 20% rapidly erode profit; Furniture, especially Tables and Bookcases, needs tighter margin control.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85800" y="59070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FF"/>
                </a:solidFill>
              </a:rPr>
              <a:t>Target: Profit (continuous)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0" y="59070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FF"/>
                </a:solidFill>
              </a:rPr>
              <a:t>Inputs: Sales, Discount, Category, Region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 + Prediction Goal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BF4FF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44752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Business question: Which orders make money, which lose money, and how should discounting be adjusted to protect margin?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88920" y="2907792"/>
            <a:ext cx="9601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32120" y="2907792"/>
            <a:ext cx="9601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2907792"/>
            <a:ext cx="9601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1488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CFDF3"/>
          </a:solidFill>
          <a:ln w="1397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Inputs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2688336"/>
            <a:ext cx="1691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Discount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Category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Region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21488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BF4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05072" y="2688336"/>
            <a:ext cx="1691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Learn non-linear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profit patterns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6E8"/>
          </a:solidFill>
          <a:ln w="1397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2688336"/>
            <a:ext cx="1691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Estimated Profit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per order 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81160" y="21488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1F2"/>
          </a:solidFill>
          <a:ln w="13970">
            <a:solidFill>
              <a:srgbClr val="EB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5757"/>
                </a:solidFill>
              </a:rPr>
              <a:t>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45752" y="2688336"/>
            <a:ext cx="1691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Approve, limit 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revise discount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5715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variable: Profit — a continuous dollar value, so this is a regression problem.</a:t>
            </a:r>
            <a:endParaRPr lang="en-US" sz="1420" dirty="0"/>
          </a:p>
          <a:p>
            <a:r>
              <a:rPr lang="en-US" sz="14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decision: reduce loss-making discounts without hurting profitable sales volume.</a:t>
            </a:r>
            <a:endParaRPr lang="en-US" sz="1420" dirty="0"/>
          </a:p>
          <a:p>
            <a:r>
              <a:rPr lang="en-US" sz="14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requirement: interpretable enough for managers and robust enough to avoid overfitting.</a:t>
            </a:r>
            <a:endParaRPr lang="en-US" sz="1420" dirty="0"/>
          </a:p>
          <a:p>
            <a:r>
              <a:rPr lang="en-US" sz="14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focus: R² for explanatory power, MAE for business-friendly average error, RMSE for outlier sensitivity.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812280" y="4069080"/>
            <a:ext cx="41605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26" name="Image 0" descr="/mnt/data/superstore_ppt_assets/charts/discount_profit_reg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93" y="4114800"/>
            <a:ext cx="2295094" cy="1435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03720" y="5614416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Regression trend: higher discounts are linked with weaker profit.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Superstore Sales 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344168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</a:rPr>
              <a:t>9,994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" y="16733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rows / order lines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880360" y="123444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088" y="1344168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22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90088" y="167335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columns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526280" y="1234440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1344168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994A"/>
                </a:solidFill>
              </a:rPr>
              <a:t>5,009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6008" y="16733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unique orders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629400" y="1234440"/>
            <a:ext cx="20574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44168"/>
            <a:ext cx="1837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B5757"/>
                </a:solidFill>
              </a:rPr>
              <a:t>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39128" y="1673352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missing in model fields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961120" y="1234440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0848" y="1344168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B51E0"/>
                </a:solidFill>
              </a:rPr>
              <a:t>1,862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70848" y="16733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4748B"/>
                </a:solidFill>
              </a:rPr>
              <a:t>unique products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0080" y="2331720"/>
            <a:ext cx="1920240" cy="41910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" y="23637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331720"/>
            <a:ext cx="1920240" cy="41910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1468" y="23637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2331720"/>
            <a:ext cx="1920240" cy="41910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1708" y="23637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27508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" y="27828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27508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1468" y="27828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27508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1708" y="27828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profit/loss value per order line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1699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" y="32019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0" y="31699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1468" y="32019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predictor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1699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1708" y="32019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Order-line revenue before margin impact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35890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" y="36210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0" y="35890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1468" y="36210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predictor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80560" y="35890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1708" y="36210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rate applied to sale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40081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" y="40401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Category, Region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560320" y="40081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1468" y="40401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predictors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80560" y="40081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1708" y="40401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and product context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44272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" y="44592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Quantity, Segment, Sub-Category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60320" y="44272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01468" y="44592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variables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480560" y="4427220"/>
            <a:ext cx="192024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1708" y="4459224"/>
            <a:ext cx="1837944" cy="3550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EDA and business interpretation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812280" y="2331720"/>
            <a:ext cx="4526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04088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Profit profile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132320" y="2971800"/>
            <a:ext cx="1920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</a:rPr>
              <a:t>Min: $-6.60K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</a:rPr>
              <a:t>Median: $8.67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</a:rPr>
              <a:t>Mean: $28.66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</a:rPr>
              <a:t>Max: $8.40K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9281160" y="2971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5757"/>
                </a:solidFill>
              </a:rPr>
              <a:t>Highly skewed target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281160" y="3337560"/>
            <a:ext cx="1719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Extreme profits and losses mean RMSE is sensitive to outliers; MAE is better for operational interpretation.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40080" y="5074920"/>
            <a:ext cx="50749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64" name="Image 0" descr="/mnt/data/superstore_ppt_assets/charts/profit_his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309" y="5102352"/>
            <a:ext cx="1476462" cy="923544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731520" y="6071616"/>
            <a:ext cx="4892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Profit histogram: most order lines cluster near zero.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6080760" y="5074920"/>
            <a:ext cx="50749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67" name="Image 1" descr="/mnt/data/superstore_ppt_assets/charts/region_count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989" y="5102352"/>
            <a:ext cx="1476462" cy="923544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6172200" y="6071616"/>
            <a:ext cx="4892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West has the largest order-line count.</a:t>
            </a:r>
            <a:endParaRPr lang="en-US" sz="750" dirty="0"/>
          </a:p>
        </p:txBody>
      </p:sp>
      <p:sp>
        <p:nvSpPr>
          <p:cNvPr id="69" name="Text 65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Region, category, sub-category and discounts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Findings: Key Business Questions Answered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98448"/>
            <a:ext cx="1066800" cy="402336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" y="1330452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61160" y="1298448"/>
            <a:ext cx="1066800" cy="402336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2308" y="1330452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27960" y="1298448"/>
            <a:ext cx="1066800" cy="402336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9108" y="1330452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1700784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" y="1732788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1160" y="1700784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2308" y="1732788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$725.5K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27960" y="1700784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9108" y="1732788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$108.4K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103120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" y="2135124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61160" y="2103120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2308" y="2135124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$678.8K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27960" y="2103120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9108" y="2135124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$91.5K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2505456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" y="2537460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61160" y="2505456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2308" y="2537460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$391.7K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27960" y="2505456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69108" y="2537460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$46.7K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2907792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" y="2939796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61160" y="2907792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02308" y="2939796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$501.2K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27960" y="2907792"/>
            <a:ext cx="1066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69108" y="2939796"/>
            <a:ext cx="98450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$39.7K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69080" y="1298448"/>
            <a:ext cx="1112520" cy="40005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0228" y="133045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81600" y="1298448"/>
            <a:ext cx="1112520" cy="40005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2748" y="133045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4120" y="1298448"/>
            <a:ext cx="1112520" cy="40005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5268" y="133045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rate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69080" y="169849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0228" y="173050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81600" y="169849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22748" y="173050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$145.5K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4120" y="169849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5268" y="173050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14.7%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069080" y="209854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0228" y="213055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 Supplies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181600" y="209854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22748" y="213055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$122.5K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4120" y="209854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5268" y="213055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14.7%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069080" y="249859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0228" y="253060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181600" y="249859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22748" y="253060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$18.5K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94120" y="2498598"/>
            <a:ext cx="111252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5268" y="2530602"/>
            <a:ext cx="103022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33.7%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726680" y="1298448"/>
            <a:ext cx="1691640" cy="40005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67828" y="133045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Avg. Profit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418320" y="1298448"/>
            <a:ext cx="1691640" cy="40005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59468" y="133045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Profit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726680" y="1698498"/>
            <a:ext cx="169164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67828" y="173050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18320" y="1698498"/>
            <a:ext cx="169164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59468" y="173050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$-55.57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726680" y="2098548"/>
            <a:ext cx="169164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67828" y="213055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Bookcases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418320" y="2098548"/>
            <a:ext cx="169164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59468" y="213055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$-15.23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726680" y="2498598"/>
            <a:ext cx="169164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67828" y="253060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418320" y="2498598"/>
            <a:ext cx="169164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59468" y="2530602"/>
            <a:ext cx="1609344" cy="3360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$-6.26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40080" y="3703320"/>
            <a:ext cx="3657600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78" name="Image 0" descr="/mnt/data/superstore_ppt_assets/charts/category_profi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45" y="3749040"/>
            <a:ext cx="2637070" cy="1645920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731520" y="5458968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Furniture profit is visibly weak vs. Technology and Office Supplies.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4526280" y="3703320"/>
            <a:ext cx="3794760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81" name="Image 1" descr="/mnt/data/superstore_ppt_assets/charts/discount_band_business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326" y="3749040"/>
            <a:ext cx="2640667" cy="1645920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4617720" y="545896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Discounts over 20% show negative average profit.</a:t>
            </a:r>
            <a:endParaRPr lang="en-US" sz="750" dirty="0"/>
          </a:p>
        </p:txBody>
      </p:sp>
      <p:sp>
        <p:nvSpPr>
          <p:cNvPr id="83" name="Shape 79"/>
          <p:cNvSpPr/>
          <p:nvPr/>
        </p:nvSpPr>
        <p:spPr>
          <a:xfrm>
            <a:off x="8549640" y="3703320"/>
            <a:ext cx="2560320" cy="1993392"/>
          </a:xfrm>
          <a:prstGeom prst="roundRect">
            <a:avLst>
              <a:gd name="adj" fmla="val 2294"/>
            </a:avLst>
          </a:prstGeom>
          <a:solidFill>
            <a:srgbClr val="FFF6E8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8686800" y="3822192"/>
            <a:ext cx="228600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SQL takeaway: Central has decent sales but weak profit; Furniture is the least profitable category; Tables, Bookcases and Supplies have negative average profit.</a:t>
            </a:r>
            <a:endParaRPr lang="en-US" sz="1250" dirty="0"/>
          </a:p>
        </p:txBody>
      </p:sp>
      <p:sp>
        <p:nvSpPr>
          <p:cNvPr id="85" name="Text 81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Distribution, relationships and category effects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Highlights: Seaborn Charts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27889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8" name="Image 0" descr="/mnt/data/superstore_ppt_assets/charts/profit_his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2" y="1271016"/>
            <a:ext cx="2470515" cy="1545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871216"/>
            <a:ext cx="2606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Histplot: target is skewed, with losses and large outliers.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520440" y="1234440"/>
            <a:ext cx="27889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11" name="Image 1" descr="/mnt/data/superstore_ppt_assets/charts/profit_boxplot_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642" y="1271016"/>
            <a:ext cx="2470515" cy="1545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71216"/>
            <a:ext cx="2606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Boxplot: Furniture has weaker profit distribution.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537960" y="1234440"/>
            <a:ext cx="27889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14" name="Image 2" descr="/mnt/data/superstore_ppt_assets/charts/discount_profit_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162" y="1271016"/>
            <a:ext cx="2470515" cy="1545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2871216"/>
            <a:ext cx="2606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Scatterplot: high discounts cluster around losses.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9555480" y="1234440"/>
            <a:ext cx="214884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17" name="Image 3" descr="/mnt/data/superstore_ppt_assets/charts/correlation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473" y="1271016"/>
            <a:ext cx="1782854" cy="1545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46920" y="2871216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Heatmap: Discount–Profit correlation is negative.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868680" y="3794760"/>
            <a:ext cx="320040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20" name="Image 4" descr="/mnt/data/superstore_ppt_assets/charts/discount_profit_regp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622" y="3831336"/>
            <a:ext cx="2470515" cy="1545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543153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Regplot: downward discount–profit trend.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4343400" y="3794760"/>
            <a:ext cx="37033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23" name="Image 5" descr="/mnt/data/superstore_ppt_assets/charts/faceted_profit_boxpl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976" y="3934834"/>
            <a:ext cx="3630168" cy="13383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434840" y="543153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Facet boxplot: Furniture weakness appears across regions.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8366760" y="3794760"/>
            <a:ext cx="2697480" cy="1874520"/>
          </a:xfrm>
          <a:prstGeom prst="roundRect">
            <a:avLst>
              <a:gd name="adj" fmla="val 2439"/>
            </a:avLst>
          </a:prstGeom>
          <a:solidFill>
            <a:srgbClr val="EBF4FF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503920" y="3913632"/>
            <a:ext cx="24231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EDA conclusion: profit is not evenly distributed. The data shows a clear operational risk zone once discounts move beyond moderate levels, especially in Furniture.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reliable inputs without target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 &amp; Preprocessing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331720"/>
            <a:ext cx="7315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09160" y="2331720"/>
            <a:ext cx="7315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86600" y="2331720"/>
            <a:ext cx="7315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64040" y="2331720"/>
            <a:ext cx="7315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1664208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EBF4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Raw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85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Sales, Discount, Category, Region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1664208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ECFD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Clean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185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Median / mode imputation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1664208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6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</a:rPr>
              <a:t>Encode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185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One-hot encoding for categories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1664208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EBF4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Engineer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2185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NetSales, LogSales, HighDiscount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95560" y="1664208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1F2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5757"/>
                </a:solidFill>
              </a:rPr>
              <a:t>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332720" y="2185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Scaled LR; tree models unscaled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675888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27" name="Image 0" descr="/mnt/data/superstore_ppt_assets/char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423" y="3712464"/>
            <a:ext cx="2759115" cy="172821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240" y="5495544"/>
            <a:ext cx="4983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Predictor-only engineered features dominate the Random Forest.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309360" y="3822192"/>
            <a:ext cx="4480560" cy="841248"/>
          </a:xfrm>
          <a:prstGeom prst="roundRect">
            <a:avLst>
              <a:gd name="adj" fmla="val 5435"/>
            </a:avLst>
          </a:prstGeom>
          <a:solidFill>
            <a:srgbClr val="FFF1F2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3941064"/>
            <a:ext cx="4206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Important leakage control: ProfitMargin = Profit / Sales is useful for descriptive analysis, but it was not used as a predictor because it directly contains the target variable.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355080" y="4892040"/>
            <a:ext cx="4480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inputs: imputed and scaled only for Linear Regression.</a:t>
            </a:r>
            <a:endParaRPr lang="en-US" sz="1270" dirty="0"/>
          </a:p>
          <a:p>
            <a:r>
              <a:rPr lang="en-US" sz="12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inputs: one-hot encoded with unknown-category handling.</a:t>
            </a:r>
            <a:endParaRPr lang="en-US" sz="1270" dirty="0"/>
          </a:p>
          <a:p>
            <a:r>
              <a:rPr lang="en-US" sz="12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design: train/development/test separation with Profit-quantile stratification.</a:t>
            </a:r>
            <a:endParaRPr lang="en-US" sz="1270" dirty="0"/>
          </a:p>
        </p:txBody>
      </p:sp>
      <p:sp>
        <p:nvSpPr>
          <p:cNvPr id="32" name="Text 29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Baseline, pruned tree and regularized ensemble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Used &amp; Why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3657600" cy="50292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" y="135788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3657600" cy="50292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3108" y="135788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included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09560" y="1325880"/>
            <a:ext cx="3657600" cy="50292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0708" y="135788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Overfitting control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" y="186080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182880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3108" y="186080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baseline to test simple linear profit effects.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9560" y="182880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0708" y="186080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Regularization and scaled numeric features.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33172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" y="236372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Regressor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33172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3108" y="236372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threshold rules such as high-discount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09560" y="233172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0708" y="236372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Cost-complexity pruning using ccp_alpha, depth and leaf limits.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83464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" y="286664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Regressor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51960" y="283464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3108" y="286664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many trees for more stable non-linear predictions.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09560" y="2834640"/>
            <a:ext cx="36576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0708" y="2866644"/>
            <a:ext cx="35753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depth, min samples, sqrt features and bootstrap aggregation.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48840" y="4681728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74920" y="4681728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4681728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" y="406908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B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279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Development set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7240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tune only on training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20440" y="406908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CFD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279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Cross-validation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0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compare MAE and R² stability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06908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FFF6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4279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Gap check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83680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detect train–test mismatch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26880" y="406908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64040" y="4279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Final test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464040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one unbiased evaluation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554480" y="5715000"/>
            <a:ext cx="8869680" cy="475488"/>
          </a:xfrm>
          <a:prstGeom prst="roundRect">
            <a:avLst>
              <a:gd name="adj" fmla="val 9615"/>
            </a:avLst>
          </a:prstGeom>
          <a:solidFill>
            <a:srgbClr val="EBF4FF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5833872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Selection principle: choose the model that generalizes, not the one that only memorizes training orders.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model: Regularized Random Forest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 &amp;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960120" cy="44577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" y="126644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463040" y="1234440"/>
            <a:ext cx="960120" cy="44577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4188" y="126644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R²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960120" cy="44577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4308" y="126644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960120" cy="44577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4428" y="126644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343400" y="1234440"/>
            <a:ext cx="960120" cy="445770"/>
          </a:xfrm>
          <a:prstGeom prst="rect">
            <a:avLst/>
          </a:prstGeom>
          <a:solidFill>
            <a:srgbClr val="0B132B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4548" y="126644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gap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02920" y="168021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" y="171221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Regularized Random Forest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463040" y="168021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4188" y="171221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0.712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423160" y="168021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4308" y="171221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$25.50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383280" y="168021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4428" y="171221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$88.53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343400" y="168021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4548" y="171221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-0.079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02920" y="212598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" y="215798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1463040" y="212598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4188" y="215798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0.548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423160" y="212598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4308" y="215798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$40.31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383280" y="212598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4428" y="215798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$110.85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343400" y="212598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4548" y="215798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0.206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02920" y="257175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" y="260375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Pruned Decision Tree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1463040" y="257175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4188" y="260375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0.453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2423160" y="257175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4308" y="260375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$26.72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3383280" y="257175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4428" y="260375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$121.95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4343400" y="2571750"/>
            <a:ext cx="960120" cy="44577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4548" y="2603754"/>
            <a:ext cx="877824" cy="38176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0.241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85800" y="3337560"/>
            <a:ext cx="43891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48" name="Image 0" descr="/mnt/data/superstore_ppt_assets/charts/model_erro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719" y="3374136"/>
            <a:ext cx="2705282" cy="159105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77240" y="502005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Lower error is better; Random Forest has the best MAE/RMSE.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5623560" y="1234440"/>
            <a:ext cx="2743200" cy="269748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51" name="Image 1" descr="/mnt/data/superstore_ppt_assets/charts/predicted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6" y="1444051"/>
            <a:ext cx="2670048" cy="2022227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715000" y="369417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Predicted vs actual shows broad alignment, with some extreme residuals.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8732520" y="1234440"/>
            <a:ext cx="2514600" cy="269748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54" name="Image 2" descr="/mnt/data/superstore_ppt_assets/charts/model_r2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1690645"/>
            <a:ext cx="2441448" cy="152903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8823960" y="3694176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Random Forest explains the most holdout variation.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5577840" y="4343400"/>
            <a:ext cx="5440680" cy="1005840"/>
          </a:xfrm>
          <a:prstGeom prst="roundRect">
            <a:avLst>
              <a:gd name="adj" fmla="val 4545"/>
            </a:avLst>
          </a:prstGeom>
          <a:solidFill>
            <a:srgbClr val="ECFDF3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5715000" y="4462272"/>
            <a:ext cx="5166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Interpretation: Test R² = 0.712 and MAE ≈ $25.50 are strong for a sparse retail-margin model. Remaining errors are driven by extreme profit/loss outliers and missing cost-level features.</a:t>
            </a:r>
            <a:endParaRPr lang="en-US" sz="1250" dirty="0"/>
          </a:p>
        </p:txBody>
      </p:sp>
      <p:sp>
        <p:nvSpPr>
          <p:cNvPr id="58" name="Text 53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descriptive insight to discount policy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502920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8" name="Image 0" descr="/mnt/data/superstore_ppt_assets/charts/discount_band_busines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15" y="1362456"/>
            <a:ext cx="4313090" cy="2688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4105656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At &gt;40% discount, average profit is strongly negative and loss rate is near universal.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989320" y="1325880"/>
            <a:ext cx="48463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889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1000"/>
              </a:srgbClr>
            </a:outerShdw>
          </a:effectLst>
        </p:spPr>
      </p:sp>
      <p:pic>
        <p:nvPicPr>
          <p:cNvPr id="11" name="Image 1" descr="/mnt/data/superstore_ppt_assets/charts/category_profit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70" y="1362456"/>
            <a:ext cx="2622419" cy="1636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0760" y="3054096"/>
            <a:ext cx="4663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Furniture is the least profitable category despite substantial sales.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126480" y="3703320"/>
            <a:ext cx="4526280" cy="868680"/>
          </a:xfrm>
          <a:prstGeom prst="roundRect">
            <a:avLst>
              <a:gd name="adj" fmla="val 5263"/>
            </a:avLst>
          </a:prstGeom>
          <a:solidFill>
            <a:srgbClr val="FFF1F2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63640" y="3822192"/>
            <a:ext cx="4251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Policy recommendation: set a default maximum discount of 20%. Discounts above 20% should trigger margin validation; 40%+ should require approval or be blocked.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724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Furniture margin review, especially Tables and Bookcases.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predicted profit before approving promotional discounts.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Central region because sales are sizable but profit lags South.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discount bands monthly to see whether policy reduces loss-making orders.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estimator + discount simulator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Demo, Conclusion &amp; 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81360" y="3108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61872"/>
            <a:ext cx="5120640" cy="2286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2700" dist="12700" dir="2700000" algn="bl" rotWithShape="0">
              <a:srgbClr val="64748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481328"/>
            <a:ext cx="46177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predict_profit(sales, discount, category, region):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new_order = pd.DataFrame([{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"Sales": sales,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"Discount": discount,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"Category": category,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"Region": region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best_model.predict(new_order)[0]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126480" y="1261872"/>
            <a:ext cx="51663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>
            <a:outerShdw blurRad="12700" dist="127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536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Discount simulator workflow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0"/>
            <a:ext cx="914400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2560320"/>
            <a:ext cx="914400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214884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EB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048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Inputs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ECFD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4048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RF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29800" y="214884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1240" y="24048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Profit alert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4983480" cy="868680"/>
          </a:xfrm>
          <a:prstGeom prst="roundRect">
            <a:avLst>
              <a:gd name="adj" fmla="val 5263"/>
            </a:avLst>
          </a:prstGeom>
          <a:solidFill>
            <a:srgbClr val="ECFDF3"/>
          </a:solidFill>
          <a:ln w="8890">
            <a:solidFill>
              <a:srgbClr val="D7E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87952"/>
            <a:ext cx="4709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Conclusion: the model converts historical order-line patterns into a practical margin-control decision aid. The strongest business signal is the discount risk threshold.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005072"/>
            <a:ext cx="45262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add product cost, shipping cost and promotion calendar data.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Sub-Category and Segment for a richer operational model.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Streamlit app for managers to test discount scenarios before approval.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Retrain monthly and compare actual vs predicted margin savings.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0ED"/>
                </a:solidFill>
              </a:rPr>
              <a:t>Final takeaway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587044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 20% discount ceiling with exception-based approvals can directly reduce avoidable loss-making orders.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29284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Microsoft Office PowerPoint</Application>
  <PresentationFormat>Widescreen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Profit Prediction</dc:title>
  <dc:subject>Superstore Profit Prediction and Discount Optimization</dc:subject>
  <dc:creator>OpenAI</dc:creator>
  <cp:lastModifiedBy>Supriya Paul</cp:lastModifiedBy>
  <cp:revision>2</cp:revision>
  <dcterms:created xsi:type="dcterms:W3CDTF">2026-08-03T19:06:54Z</dcterms:created>
  <dcterms:modified xsi:type="dcterms:W3CDTF">2026-08-04T07:18:30Z</dcterms:modified>
</cp:coreProperties>
</file>